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059" y="1080000"/>
            <a:ext cx="1800000" cy="18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880000"/>
            <a:ext cx="12192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E6BFF"/>
                </a:solidFill>
                <a:latin typeface="맑은 고딕"/>
              </a:rPr>
              <a:t>AI ERA CAREER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11999"/>
            <a:ext cx="1219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6600" b="1">
                <a:solidFill>
                  <a:srgbClr val="0A1B3D"/>
                </a:solidFill>
                <a:latin typeface="맑은 고딕"/>
              </a:rPr>
              <a:t>AI-MBTI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80000"/>
            <a:ext cx="12192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0A1B3D"/>
                </a:solidFill>
                <a:latin typeface="맑은 고딕"/>
              </a:rPr>
              <a:t>AI 시대, 당신의 생존력을 진단합니다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220000"/>
            <a:ext cx="121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20문항으로 AI 활용 유형 진단 · 데이터 기반 광고 운영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18000"/>
            <a:ext cx="1219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IR / PR Deck v3 · 2026.04 · mcodegc.com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360000"/>
            <a:ext cx="288000" cy="10800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72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E6BFF"/>
                </a:solidFill>
                <a:latin typeface="맑은 고딕"/>
              </a:rPr>
              <a:t>01 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10800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A1B3D"/>
                </a:solidFill>
                <a:latin typeface="맑은 고딕"/>
              </a:rPr>
              <a:t>숫자로 보는 현재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108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F2E"/>
                </a:solidFill>
                <a:latin typeface="맑은 고딕"/>
              </a:rPr>
              <a:t>2026년 4월 22일 ~ 4월 24일, 페이스북·인스타 광고 3종 집행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059" y="2520000"/>
            <a:ext cx="2520000" cy="1512000"/>
          </a:xfrm>
          <a:prstGeom prst="rect">
            <a:avLst/>
          </a:prstGeom>
          <a:solidFill>
            <a:srgbClr val="F3F6FC"/>
          </a:solidFill>
          <a:ln w="6350">
            <a:solidFill>
              <a:srgbClr val="D6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059" y="2628000"/>
            <a:ext cx="2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광고비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059" y="2916000"/>
            <a:ext cx="2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A1B3D"/>
                </a:solidFill>
                <a:latin typeface="맑은 고딕"/>
              </a:rPr>
              <a:t>₩134,113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059" y="3708000"/>
            <a:ext cx="2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0EA36B"/>
                </a:solidFill>
                <a:latin typeface="맑은 고딕"/>
              </a:rPr>
              <a:t>3일간 집행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6059" y="2520000"/>
            <a:ext cx="2520000" cy="1512000"/>
          </a:xfrm>
          <a:prstGeom prst="rect">
            <a:avLst/>
          </a:prstGeom>
          <a:solidFill>
            <a:srgbClr val="F3F6FC"/>
          </a:solidFill>
          <a:ln w="6350">
            <a:solidFill>
              <a:srgbClr val="D6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6059" y="2628000"/>
            <a:ext cx="2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관심 고객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6059" y="2916000"/>
            <a:ext cx="2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A1B3D"/>
                </a:solidFill>
                <a:latin typeface="맑은 고딕"/>
              </a:rPr>
              <a:t>63명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6059" y="3708000"/>
            <a:ext cx="2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0EA36B"/>
                </a:solidFill>
                <a:latin typeface="맑은 고딕"/>
              </a:rPr>
              <a:t>중복 제거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6059" y="2520000"/>
            <a:ext cx="2520000" cy="1512000"/>
          </a:xfrm>
          <a:prstGeom prst="rect">
            <a:avLst/>
          </a:prstGeom>
          <a:solidFill>
            <a:srgbClr val="F3F6FC"/>
          </a:solidFill>
          <a:ln w="6350">
            <a:solidFill>
              <a:srgbClr val="D6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6059" y="2628000"/>
            <a:ext cx="2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1명 모시는 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6059" y="2916000"/>
            <a:ext cx="2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A1B3D"/>
                </a:solidFill>
                <a:latin typeface="맑은 고딕"/>
              </a:rPr>
              <a:t>₩2,129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6059" y="3708000"/>
            <a:ext cx="2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0EA36B"/>
                </a:solidFill>
                <a:latin typeface="맑은 고딕"/>
              </a:rPr>
              <a:t>최우수 광고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6059" y="2520000"/>
            <a:ext cx="2520000" cy="1512000"/>
          </a:xfrm>
          <a:prstGeom prst="rect">
            <a:avLst/>
          </a:prstGeom>
          <a:solidFill>
            <a:srgbClr val="F3F6FC"/>
          </a:solidFill>
          <a:ln w="6350">
            <a:solidFill>
              <a:srgbClr val="D6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6059" y="2628000"/>
            <a:ext cx="2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광고 클릭률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6059" y="2916000"/>
            <a:ext cx="2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A1B3D"/>
                </a:solidFill>
                <a:latin typeface="맑은 고딕"/>
              </a:rPr>
              <a:t>2.93%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6059" y="3708000"/>
            <a:ext cx="2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0EA36B"/>
                </a:solidFill>
                <a:latin typeface="맑은 고딕"/>
              </a:rPr>
              <a:t>업계의 1.5배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A1B3D"/>
                </a:solidFill>
                <a:latin typeface="맑은 고딕"/>
              </a:rPr>
              <a:t>캠페인 3종 성적표 (여성 이미지 × 첫페이지 3종 · 4월 22~24일)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07999"/>
          <a:ext cx="109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/>
                <a:gridCol w="2745000"/>
                <a:gridCol w="2745000"/>
                <a:gridCol w="2745000"/>
              </a:tblGrid>
              <a:tr h="432000"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캠페인 (여성 × 첫페이지)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관심 고객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1명 모시는 비용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한 줄 평가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432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여성 × 심플 첫페이지 (1등)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34명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₩1,323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정보 중심 · 가장 저렴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432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여성 × 사회적 첫페이지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16명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₩2,757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공감형 · 클릭 가장 많음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여성 × 공포 첫페이지 (실험)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13명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₩3,462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공포 소구, 반응 개선·재평가 필요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432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합계 (3종)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63명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평균 ₩2,129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Simple·Social 중심 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3600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A1B3D"/>
                </a:solidFill>
                <a:latin typeface="맑은 고딕"/>
              </a:rPr>
              <a:t>우리 광고 vs 업계 평균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4140000"/>
          <a:ext cx="1098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/>
                <a:gridCol w="2745000"/>
                <a:gridCol w="2745000"/>
                <a:gridCol w="2745000"/>
              </a:tblGrid>
              <a:tr h="450000"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업계 평균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우리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차이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450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광고 보고 누르는 비율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1.91%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2.93%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▲ 1.5배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450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한 번 누를 때 광고비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▼ 절반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1명 모시는 비용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약 ₩25,000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₩2,129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▼ 1/12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A1B3D"/>
                </a:solidFill>
                <a:latin typeface="맑은 고딕"/>
              </a:rPr>
              <a:t>관심 고객 63명 — 어디로 갔나? (4월 22~24일)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07999"/>
          <a:ext cx="1098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/>
                <a:gridCol w="2745000"/>
                <a:gridCol w="2745000"/>
                <a:gridCol w="2745000"/>
              </a:tblGrid>
              <a:tr h="360000"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캠페인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총 관심 고객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전자책 이동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단톡방 이동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360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Simple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34명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30명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4명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360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16명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6명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Fear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13명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13명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0명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360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63명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53명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10명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3240000"/>
            <a:ext cx="108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A1B3D"/>
                </a:solidFill>
                <a:latin typeface="맑은 고딕"/>
              </a:rPr>
              <a:t>규모별 광고비 환산 — 고객 N명 모으려면 얼마?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3780000"/>
          <a:ext cx="109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/>
                <a:gridCol w="2745000"/>
                <a:gridCol w="2745000"/>
                <a:gridCol w="2745000"/>
              </a:tblGrid>
              <a:tr h="432000"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현재 CPL 기준 (₩2,129)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실질 가격 (150%=₩3,194)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해석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432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10명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₩21,290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₩31,935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432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₩212,900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₩319,350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월 소규모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1,000명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₩2,129,000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₩3,193,500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월 중형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432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10,000명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₩21,290,000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₩31,935,000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연간 대규모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A1B3D"/>
                </a:solidFill>
                <a:latin typeface="맑은 고딕"/>
              </a:rPr>
              <a:t>Meta 광고 캠페인별 전체 퍼널 비교 (4월 22~24일)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07999"/>
          <a:ext cx="1098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500"/>
                <a:gridCol w="1372500"/>
                <a:gridCol w="1372500"/>
                <a:gridCol w="1372500"/>
                <a:gridCol w="1372500"/>
                <a:gridCol w="1372500"/>
                <a:gridCol w="1372500"/>
                <a:gridCol w="1372500"/>
              </a:tblGrid>
              <a:tr h="324000"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캠페인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랜딩 조회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CTA 클릭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테스트 시작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결과 확인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Lead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CTA 클릭률 ★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Lead 전환율 ★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324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Simple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146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87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79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34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59.6% 🏆 1위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23.3%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324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16.3% 🏆 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Fear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108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61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56.5% (2위)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12.0% (꼴찌)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324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합계·평균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55.9%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17.9%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2700000"/>
            <a:ext cx="109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★ CTA 클릭률 1위 = Simple (59.6%) / Lead 전환율 1위 = Social (16.3%) — 서로 다른 1위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588059" y="3420000"/>
            <a:ext cx="3600000" cy="900000"/>
          </a:xfrm>
          <a:prstGeom prst="rect">
            <a:avLst/>
          </a:prstGeom>
          <a:solidFill>
            <a:srgbClr val="F3F6FC"/>
          </a:solidFill>
          <a:ln w="6350">
            <a:solidFill>
              <a:srgbClr val="D6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8059" y="3420000"/>
            <a:ext cx="108000" cy="900000"/>
          </a:xfrm>
          <a:prstGeom prst="rect">
            <a:avLst/>
          </a:prstGeom>
          <a:solidFill>
            <a:srgbClr val="0E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59" y="3492000"/>
            <a:ext cx="3348001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A1B3D"/>
                </a:solidFill>
                <a:latin typeface="맑은 고딕"/>
              </a:rPr>
              <a:t>🏆 Simple = 트래픽 수확기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59" y="3816000"/>
            <a:ext cx="3348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F2E"/>
                </a:solidFill>
                <a:latin typeface="맑은 고딕"/>
              </a:rPr>
              <a:t>CTA 클릭률 59.6% 1위</a:t>
            </a:r>
          </a:p>
          <a:p>
            <a:pPr algn="l"/>
            <a:r>
              <a:rPr sz="1000" b="0">
                <a:solidFill>
                  <a:srgbClr val="1A1F2E"/>
                </a:solidFill>
                <a:latin typeface="맑은 고딕"/>
              </a:rPr>
              <a:t>넓은 그물로 많이 끌어오는 메인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6059" y="3420000"/>
            <a:ext cx="3600000" cy="900000"/>
          </a:xfrm>
          <a:prstGeom prst="rect">
            <a:avLst/>
          </a:prstGeom>
          <a:solidFill>
            <a:srgbClr val="F3F6FC"/>
          </a:solidFill>
          <a:ln w="6350">
            <a:solidFill>
              <a:srgbClr val="D6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6059" y="3420000"/>
            <a:ext cx="108000" cy="90000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6059" y="3492000"/>
            <a:ext cx="3348001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A1B3D"/>
                </a:solidFill>
                <a:latin typeface="맑은 고딕"/>
              </a:rPr>
              <a:t>🏆 Social = 질적 전환기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059" y="3816000"/>
            <a:ext cx="3348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F2E"/>
                </a:solidFill>
                <a:latin typeface="맑은 고딕"/>
              </a:rPr>
              <a:t>Lead 전환율 16.3% 1위</a:t>
            </a:r>
          </a:p>
          <a:p>
            <a:pPr algn="l"/>
            <a:r>
              <a:rPr sz="1000" b="0">
                <a:solidFill>
                  <a:srgbClr val="1A1F2E"/>
                </a:solidFill>
                <a:latin typeface="맑은 고딕"/>
              </a:rPr>
              <a:t>진짜 관심 있는 사람이 끝까지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4059" y="3420000"/>
            <a:ext cx="3600000" cy="900000"/>
          </a:xfrm>
          <a:prstGeom prst="rect">
            <a:avLst/>
          </a:prstGeom>
          <a:solidFill>
            <a:srgbClr val="F3F6FC"/>
          </a:solidFill>
          <a:ln w="6350">
            <a:solidFill>
              <a:srgbClr val="D6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4059" y="3420000"/>
            <a:ext cx="108000" cy="900000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4059" y="3492000"/>
            <a:ext cx="3348001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A1B3D"/>
                </a:solidFill>
                <a:latin typeface="맑은 고딕"/>
              </a:rPr>
              <a:t>⚠ Fear = 재평가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4059" y="3816000"/>
            <a:ext cx="3348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F2E"/>
                </a:solidFill>
                <a:latin typeface="맑은 고딕"/>
              </a:rPr>
              <a:t>Lead 전환율 12.0% 꼴찌</a:t>
            </a:r>
          </a:p>
          <a:p>
            <a:pPr algn="l"/>
            <a:r>
              <a:rPr sz="1000" b="0">
                <a:solidFill>
                  <a:srgbClr val="1A1F2E"/>
                </a:solidFill>
                <a:latin typeface="맑은 고딕"/>
              </a:rPr>
              <a:t>클릭은 되나 전환 안 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4500000"/>
            <a:ext cx="1098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F2E"/>
                </a:solidFill>
                <a:latin typeface="맑은 고딕"/>
              </a:rPr>
              <a:t>결론: 3개 광고가 각기 다른 역할을 수행 · 버튼 많이 누르는 광고와 끝까지 전환되는 광고가 따로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A1B3D"/>
                </a:solidFill>
                <a:latin typeface="맑은 고딕"/>
              </a:rPr>
              <a:t>Meta 광고 캠페인 비교 — AI-MBTI vs 데이터 분석 홍보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9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같은 메타코드M 광고 계정 · 동일 기간(4/22~24) · 동일 조건(OUTCOME_LEADS)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1098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00"/>
                <a:gridCol w="2196000"/>
                <a:gridCol w="2196000"/>
                <a:gridCol w="2196000"/>
                <a:gridCol w="2196000"/>
              </a:tblGrid>
              <a:tr h="405000"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Simple (1위)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Social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Fear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데이터 분석 홍보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405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광고 목표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잠재고객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잠재고객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잠재고객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잠재고객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405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광고비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₩44,988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₩44,118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₩45,007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₩119,244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도달 (실사용자)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2,352명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1,746명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2,122명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3,160명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405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클릭률 (CTR)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2.52%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2.19%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클릭당 비용 (CPC)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₩459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₩613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₩652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₩1,437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405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34명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16명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13명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1명 모시는 비용 (CPL)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₩1,323 🏆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₩2,757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₩3,462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₩9,173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4680000"/>
            <a:ext cx="10980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1F2E"/>
                </a:solidFill>
                <a:latin typeface="맑은 고딕"/>
              </a:rPr>
              <a:t>• CPL: Simple ₩1,323 vs 데이터 분석 홍보 ₩9,173 → 6.9배 저렴</a:t>
            </a:r>
          </a:p>
          <a:p>
            <a:pPr algn="l"/>
            <a:r>
              <a:rPr sz="1100" b="0">
                <a:solidFill>
                  <a:srgbClr val="1A1F2E"/>
                </a:solidFill>
                <a:latin typeface="맑은 고딕"/>
              </a:rPr>
              <a:t>• CPC: Simple ₩459 vs 데이터 분석 홍보 ₩1,437 → 3.1배 저렴</a:t>
            </a:r>
          </a:p>
          <a:p>
            <a:pPr algn="l"/>
            <a:r>
              <a:rPr sz="1100" b="0">
                <a:solidFill>
                  <a:srgbClr val="1A1F2E"/>
                </a:solidFill>
                <a:latin typeface="맑은 고딕"/>
              </a:rPr>
              <a:t>• 효율 역전: 데이터 분석 홍보가 2.7배 더 쓰고도 Lead 13명 (Simple 34명의 1/3 수준)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A1B3D"/>
                </a:solidFill>
                <a:latin typeface="맑은 고딕"/>
              </a:rPr>
              <a:t>데이터 분석 역량 — 실제 운영 대시보드</a:t>
            </a:r>
          </a:p>
        </p:txBody>
      </p:sp>
      <p:pic>
        <p:nvPicPr>
          <p:cNvPr id="3" name="Picture 2" descr="dashbo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07999"/>
            <a:ext cx="10980000" cy="965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A1B3D"/>
                </a:solidFill>
                <a:latin typeface="맑은 고딕"/>
              </a:rPr>
              <a:t>서비스 흐름 — 진단 → 결과 → 학습 연결</a:t>
            </a:r>
          </a:p>
        </p:txBody>
      </p:sp>
      <p:pic>
        <p:nvPicPr>
          <p:cNvPr id="3" name="Picture 2" descr="service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59" y="1080000"/>
            <a:ext cx="3420000" cy="74012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6059" y="5580000"/>
            <a:ext cx="34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1단계 · 20문항 진단</a:t>
            </a:r>
          </a:p>
        </p:txBody>
      </p:sp>
      <p:pic>
        <p:nvPicPr>
          <p:cNvPr id="5" name="Picture 4" descr="service-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059" y="1080000"/>
            <a:ext cx="3420000" cy="7401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6059" y="5580000"/>
            <a:ext cx="34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2단계 · 16유형 결과</a:t>
            </a:r>
          </a:p>
        </p:txBody>
      </p:sp>
      <p:pic>
        <p:nvPicPr>
          <p:cNvPr id="7" name="Picture 6" descr="service-c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059" y="1080000"/>
            <a:ext cx="3420000" cy="74012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66059" y="5580000"/>
            <a:ext cx="34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3단계 · 전자책·단톡방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A1B3D"/>
                </a:solidFill>
                <a:latin typeface="맑은 고딕"/>
              </a:rPr>
              <a:t>Claude AI의 성과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9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AI(Claude)가 이 자료의 숫자를 따로 확인하고 매긴 종합 평가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1098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/>
                <a:gridCol w="2745000"/>
                <a:gridCol w="2745000"/>
                <a:gridCol w="2745000"/>
              </a:tblGrid>
              <a:tr h="565714"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점수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평가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565714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광고비 효율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A+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아주 잘함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업계 평균의 1/12 비용, 클릭률 1.5배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65714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광고 다양성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잘함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3가지 광고 동시 테스트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14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숫자 정확도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A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잘함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페이스북 광고 관리자 숫자와 완전 일치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65714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의사결정 속도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괜찮음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한 화면 대시보드로 빠르게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14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전체 규모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B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이제 시작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0">
                          <a:solidFill>
                            <a:srgbClr val="1A1F2E"/>
                          </a:solidFill>
                          <a:latin typeface="맑은 고딕"/>
                        </a:rPr>
                        <a:t>3일에 63명 — 예산 확장 검증 필요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65716">
                <a:tc>
                  <a:txBody>
                    <a:bodyPr lIns="54000" rIns="54000"/>
                    <a:lstStyle/>
                    <a:p>
                      <a:pPr algn="l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종합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A-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광고 효율 입증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000" rIns="54000"/>
                    <a:lstStyle/>
                    <a:p>
                      <a:pPr algn="ctr"/>
                      <a:r>
                        <a:rPr sz="1000" b="1">
                          <a:solidFill>
                            <a:srgbClr val="0A1B3D"/>
                          </a:solidFill>
                          <a:latin typeface="맑은 고딕"/>
                        </a:rPr>
                        <a:t>규모 키우고 구매율 높이는 게 과제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60000"/>
            <a:ext cx="1219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000" b="1">
                <a:solidFill>
                  <a:srgbClr val="0A1B3D"/>
                </a:solidFill>
                <a:latin typeface="맑은 고딕"/>
              </a:rPr>
              <a:t>연락처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20000"/>
            <a:ext cx="121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1A1F2E"/>
                </a:solidFill>
                <a:latin typeface="맑은 고딕"/>
              </a:rPr>
              <a:t>서비스: https://mcodegc.com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60000"/>
            <a:ext cx="121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1A1F2E"/>
                </a:solidFill>
                <a:latin typeface="맑은 고딕"/>
              </a:rPr>
              <a:t>IR / PR 문의: information@mcode.co.kr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534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AI-MBTI · IR/PR v3 · mcodegc.com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119" y="6534000"/>
            <a:ext cx="7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8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33"/>
                </a:solidFill>
              </a:rPr>
              <a:t>구간별 성과 변화 — 2일 단위 롤링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577"/>
                </a:solidFill>
              </a:rPr>
              <a:t>같은 예산, 2일 → 2일 비교에서 Lead +73% · CPL -43% → Meta 알고리즘 학습 구간 진입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8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967"/>
                <a:gridCol w="2218967"/>
                <a:gridCol w="2218967"/>
                <a:gridCol w="2218967"/>
                <a:gridCol w="2218971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P1 · 4/22-23 (2일)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P2 · 4/23-24 (2일)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P3 · 누적 3일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P1 → P2 변화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광고비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₩101,055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₩100,253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₩134,489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거의 동일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30명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52명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63명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32E2E"/>
                          </a:solidFill>
                        </a:rPr>
                        <a:t>▲ +73%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CPL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₩3,368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32E2E"/>
                          </a:solidFill>
                        </a:rPr>
                        <a:t>₩1,928 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₩2,135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32E2E"/>
                          </a:solidFill>
                        </a:rPr>
                        <a:t>▼ -43%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2.93%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2.90%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안정 유지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₩574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₩573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₩558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▼ 소폭 개선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840480"/>
          <a:ext cx="110948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967"/>
                <a:gridCol w="2218967"/>
                <a:gridCol w="2218967"/>
                <a:gridCol w="2218967"/>
                <a:gridCol w="2218971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캠페인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P1 CPL (4/22-23)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P2 CPL (4/23-24)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변화율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22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₩2,204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₩1,236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▼ -44%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최우수 소재 · 학습 가속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₩3,578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₩2,974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▼ -17%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완만한 개선 · 안정적 2순위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Fear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₩5,966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₩2,533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32E2E"/>
                          </a:solidFill>
                        </a:rPr>
                        <a:t>▼ -58%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극적 반등 · 중단 유보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99999"/>
                          </a:solidFill>
                        </a:rPr>
                        <a:t>(참고) 데이터 분석 홍보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999999"/>
                          </a:solidFill>
                        </a:rPr>
                        <a:t>₩9,257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999999"/>
                          </a:solidFill>
                        </a:rPr>
                        <a:t>₩21,448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999999"/>
                          </a:solidFill>
                        </a:rPr>
                        <a:t>▲ +132%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99999"/>
                          </a:solidFill>
                        </a:rPr>
                        <a:t>대조군 악화 · 우위 확대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1094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★ 대조군(데이터 분석 홍보)은 같은 기간 CPL 2배 이상 악화 — AI-MBTI 소재 우위가 구조적임을 재확인. Fear는 중단 예정이었으나 P2에서 -58% 개선 → 48h 추가 관찰.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AI-MBTI · IR/PR v3 · mcodegc.com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